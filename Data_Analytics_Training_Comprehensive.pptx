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979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Data Analytics for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Strategic Decision-Making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45th Mid-Career Management Course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657600"/>
            <a:ext cx="18288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National Institute of Public Administration, Peshawar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January 13, 2026 | Zahid Asghar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Session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7"/>
                </a:solidFill>
              </a:rPr>
              <a:t>Learning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37160" cy="1371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Distinguish data from governance failures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37160" cy="1371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Make defensible evidence-based decisions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137160" cy="1371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Avoid common analytical errors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137160" cy="1371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Lead data governance institutionally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45720" cy="7315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822960" y="3611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</a:rPr>
              <a:t>Key Focus: This is not purely technical training—it's about leadership, accountability, and strategic judgment using data.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AE142964-C58B-A8DA-8083-A0B55B7328B9}"/>
              </a:ext>
            </a:extLst>
          </p:cNvPr>
          <p:cNvSpPr/>
          <p:nvPr/>
        </p:nvSpPr>
        <p:spPr>
          <a:xfrm>
            <a:off x="640080" y="4273216"/>
            <a:ext cx="7863840" cy="73152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r>
              <a:rPr lang="en-US" sz="1300" b="1" dirty="0"/>
              <a:t>You won’t become data </a:t>
            </a:r>
            <a:r>
              <a:rPr lang="en-US" sz="1300" b="1" dirty="0">
                <a:solidFill>
                  <a:srgbClr val="333333"/>
                </a:solidFill>
              </a:rPr>
              <a:t>scientists</a:t>
            </a:r>
            <a:r>
              <a:rPr lang="en-US" sz="1300" b="1" dirty="0"/>
              <a:t> today. But you will learn to ask the right questions so data serves you, not the other way around.</a:t>
            </a:r>
            <a:endParaRPr lang="en-PK" sz="13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The Mindset Shift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40480" y="3383280"/>
            <a:ext cx="14630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</a:rPr>
              <a:t>From Technical Executor to Strategic Leader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566160" cy="1828800"/>
          </a:xfrm>
          <a:prstGeom prst="round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F8C8D"/>
                </a:solidFill>
              </a:rPr>
              <a:t>Earlier Focus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Implementing 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Following procedures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Managing processes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Technical execution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749040" cy="1828800"/>
          </a:xfrm>
          <a:prstGeom prst="round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93776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Responsibility Now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• Owning institutional decisions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• Defending under audit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• Shaping what gets measured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• Strategic judgment under uncertainty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45720" cy="6400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822960" y="33375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</a:rPr>
              <a:t>"Your job is not to trust data blindly or reject it instinctively—but to own decisions that data informs."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Two Types of Failures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566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7"/>
                </a:solidFill>
              </a:rPr>
              <a:t>Data Failure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Incomplete, outdated, or contradictory information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Beneficiary databases not updated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Indicators measuring compliance not outcomes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780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Siloed data across departments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Systems exist but aren't integrated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749040" cy="201168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</a:rPr>
              <a:t>Governance Failure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Institutional clarity gaps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Unclear who decides what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Officers fear analytics = audit exposure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4231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No mandate for cross-departmental action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Political pressure overrides 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8803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Weak accountability mechanisms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45720" cy="54864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822960" y="35204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</a:rPr>
              <a:t>Critical Insight: Most "data problems" are actually governance problems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Common Errors in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Data Analysis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40480" y="3383280"/>
            <a:ext cx="14630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8 Critical Errors: Quick Reference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1. Selection Bias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Am I seeing the full picture or just survivors?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892040" y="1188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2. Confounding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What else could explain this?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640080" y="182880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822960" y="1920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3. Reverse Causality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1945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Which way does the arrow point?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82880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709160" y="182880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4. Measurement Manipulation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Am I measuring what matters?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56032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40080" y="256032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822960" y="2651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5. Ecological Fallacy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926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Does the average hide variation?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56032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709160" y="256032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892040" y="2651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6. Survivorship Bias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2926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Who am I NOT seeing?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29184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640080" y="329184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822960" y="3383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7. P-Hacking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3657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Am I finding or manufacturing patterns?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29184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4709160" y="329184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892040" y="3383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8. Base Rate Neglect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3657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How common is this really?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40080" y="4114800"/>
            <a:ext cx="45720" cy="5486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822960" y="42519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</a:rPr>
              <a:t>Your role: Ask these questions BEFORE making decisions, not after audit flags problems.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1: Selection Bias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Am I seeing the full picture?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School dropout survey only includes enrolled students (95% satisfied). Dropouts excluded.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D8431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2: Confounding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What else explains this?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Clinic A (urban) has better outcomes than Clinic B (rural). Socioeconomic status confounds.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3: Reverse Causality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Which way does arrow point?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More police deployed where crime is high. Conclusion: Police cause crime. Reality: Reverse.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4: Measurement Error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Am I measuring what matters?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Dashboard shows 92% promotion rate but learning outcomes poor. Measuring completion, not quality.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5: Ecological Fallacy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Does average hide variation?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District X has high education spending, low literacy. Aggregate hides urban/rural distribution.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6: Survivorship Bias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Who am I NOT seeing?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Training program survey shows 90% positive. 40% who dropped out aren't surveyed.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5E35B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7: P-Hacking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Am I manufacturing patterns?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Policy shows no impact. Test 20 outcomes until one is significant (p&lt;0.05). Could be chance.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8: Base Rate Neglect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How common is this really?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Fraud detection 95% accurate. But fraud is 1% of transactions. Result: 98% false positives.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PART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Real Pakistan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Case Studies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40480" y="3383280"/>
            <a:ext cx="14630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The Karachi Malir Crisis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8C8D"/>
                </a:solidFill>
              </a:rPr>
              <a:t>What Officials See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743200" cy="822960"/>
          </a:xfrm>
          <a:prstGeom prst="round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Overall Vulnerability: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085"/>
                </a:solidFill>
              </a:rPr>
              <a:t>41st percentile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743200" cy="5486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Gets ZERO targeted health funding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097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7"/>
                </a:solidFill>
              </a:rPr>
              <a:t>What Data Reveals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463040"/>
          <a:ext cx="4663440" cy="2133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Domain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Percentile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Overall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Moderate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Housing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✓✓ Excellent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Livelihoods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✓✓ Excellent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Demographics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✓✓ Best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Transport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 Poor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Education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 Poor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Health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</a:rPr>
                        <a:t>82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✗✗ CATASTROPHIC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840480" y="3566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3.7M people • Health worse than 82% of districts • Completely invisible in aggregate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640080" y="4023360"/>
            <a:ext cx="45720" cy="54864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822960" y="4160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Analytical Error: Ecological Fallacy - District-level average hides domain-specific disaster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Decision Quality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When facing a data-driven decision, ask: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1. CLARITY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Do I have authority to make this decision?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2. EVIDENCE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What data do I have, and what are its limitations?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938528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40080" y="1938528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777240" y="20299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3. ERRORS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2585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Which analytical errors might be present?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938528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709160" y="1938528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846320" y="20299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4. ALTERNATIVES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2585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What other explanations exist?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2596896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640080" y="2596896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777240" y="268833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5. UNCERTAINTY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9169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What don't I know, and does it matter?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596896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709160" y="2596896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846320" y="268833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6. SAFEGUARDS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9169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How do I document this for future audit?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3255264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640080" y="3255264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777240" y="334670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7. ACCOUNTABILITY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357530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Can I defend this under scrutiny?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255264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4709160" y="3255264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4846320" y="334670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8. LEARNING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57530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What would tell me I was wrong?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822960" y="4160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This framework transforms data into defensible, accountable decisions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Your Four Core Responsibilities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4864" cy="73152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1. Establish Institutional Clarity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Define who decides what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1508760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Document decision-making authority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Create clear escalation paths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645920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Separate technical analysis from policy judgment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984248"/>
            <a:ext cx="7863840" cy="7315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40080" y="1984248"/>
            <a:ext cx="54864" cy="73152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822960" y="207568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2. Create Officer Safeguards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304288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Reduce exposure while improving transparency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304288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Document decision rationale contemporaneously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441448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Build peer review mechanisms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2441448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Establish audit-defensible processes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779776"/>
            <a:ext cx="7863840" cy="73152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640080" y="2779776"/>
            <a:ext cx="54864" cy="7315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3. Reshape Incentives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099816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Make analytics surface problems, not conceal them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3099816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Reward officers who identify issues early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236976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Protect those who challenge green dashboards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3236976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Measure outcomes, not just compliance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3575304"/>
            <a:ext cx="7863840" cy="73152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640080" y="3575304"/>
            <a:ext cx="54864" cy="73152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822960" y="366674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4. Own Decisions Informed by Data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895344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Accept uncertainty as normal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3895344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Use data to reduce uncertainty, not eliminate 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4032504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Defend judgment under political/audit scrutiny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4032504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Balance evidence with institutional wisdom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Key Principles to Remember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</a:rPr>
              <a:t>What Data 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109728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One input to judgment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Uncertainty reducer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Conversation starter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Accountability enhancer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</a:rPr>
              <a:t>What Data Is NOT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3566160" cy="1097280"/>
          </a:xfrm>
          <a:prstGeom prst="round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✗ The decision-maker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✗ Perfect or complete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✗ A shield from responsibility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931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✗ A substitute for wisdom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7"/>
                </a:solidFill>
              </a:rPr>
              <a:t>Your Role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3749040" cy="237744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• Data is not authority—you 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• Analytics is not defense—judgment 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• Systems don't decide—officers 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• Uncertainty is not weakness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178567"/>
            <a:ext cx="7863840" cy="5486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732723" y="4315727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"Your job is not to trust data blindly or reject it instinctively—but to own decisions that data informs."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65862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Your Next Actions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4864" cy="9144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Immediate (This Week)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Identify one analytics opportunity in your domain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Ask: 'What does the average hide?'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Connect with your data/IT officers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7863840" cy="9144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54864" cy="91440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Short-term (This Month)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Review one dashboard—ask the 8 error questions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Document one decision rationale for future audit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92608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Identify cross-departmental patterns in your work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7863840" cy="91440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54864" cy="91440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822960" y="329184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Strategic (This Quarter)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Propose one governance reform based on hidden patterns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74904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Mentor junior officers on analytical errors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93192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Build institutional safeguards for challenging official metrics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</a:rPr>
              <a:t>The Three Hidden Patterns Revealed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8686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4864" cy="8686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Pattern 1: Service Access Paradox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35M+ people in 'low/moderate' cities face catastrophic service failures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Example: Karachi West (3.9M) - 25th overall, 55th health, 57th education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819656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Example: Islamabad - 9th overall, 53rd education (capital paradox!)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975104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3E50"/>
                </a:solidFill>
              </a:rPr>
              <a:t>• Hidden by: Aggregate scores mask domain-specific crises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7863840" cy="86868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54864" cy="86868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822960" y="224028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Pattern 2: The Volatility Crisis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47 districts at 'tipping points' (moderate overall, high internal variance)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624328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Risk: One shock → cascading domain failures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779776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Example: Khushab - 35th overall but education at 61st (critical failure point)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935224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3E50"/>
                </a:solidFill>
              </a:rPr>
              <a:t>• Hidden by: Policy ignores variance, only looks at averages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7863840" cy="8686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54864" cy="86868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22960" y="32004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Pattern 3:  Boundaries Problem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429000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Districts cluster by vulnerability profile, not by province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584448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Example: Interior Sindh + South Punjab have identical service deficits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3739896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Could coordinate: 30-40% efficiency gain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3895344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3E50"/>
                </a:solidFill>
              </a:rPr>
              <a:t>• Hidden by: Provincial silos prevent cross-provincial analysis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822960" y="4160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</a:rPr>
              <a:t>These patterns affect 60+ million people and remain invisible in current policy frameworks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</a:rPr>
              <a:t>Other 'Paradox Districts' - Pattern is Systemic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841829"/>
              </p:ext>
            </p:extLst>
          </p:nvPr>
        </p:nvGraphicFramePr>
        <p:xfrm>
          <a:off x="640080" y="1097280"/>
          <a:ext cx="7863840" cy="2285997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District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Overall 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Hidden Crisis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Population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Current Response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</a:rPr>
                        <a:t>Karachi Malir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41st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Health 82nd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3.7M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</a:rPr>
                        <a:t>ZERO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</a:rPr>
                        <a:t>Karachi West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25th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Health 55th, Edu 57th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3.9M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</a:rPr>
                        <a:t>ZERO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</a:rPr>
                        <a:t>Islamabad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9th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Education 53rd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2.4M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</a:rPr>
                        <a:t>ZERO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</a:rPr>
                        <a:t>Rawalpindi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6th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Health 25th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5.4M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Minimal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</a:rPr>
                        <a:t>Peshawar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9th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Health 33rd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4.3M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Minimal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</a:rPr>
                        <a:t>Quetta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31st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Health 57th, Edu 54th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1.1M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</a:rPr>
                        <a:t>ZERO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2"/>
          <p:cNvSpPr/>
          <p:nvPr/>
        </p:nvSpPr>
        <p:spPr>
          <a:xfrm>
            <a:off x="640080" y="3566160"/>
            <a:ext cx="45720" cy="4572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3"/>
          <p:cNvSpPr/>
          <p:nvPr/>
        </p:nvSpPr>
        <p:spPr>
          <a:xfrm>
            <a:off x="822960" y="370332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Total: 25+ million people in service delivery crises, invisible in aggregate rankings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5"/>
          <p:cNvSpPr/>
          <p:nvPr/>
        </p:nvSpPr>
        <p:spPr>
          <a:xfrm>
            <a:off x="640080" y="4114800"/>
            <a:ext cx="45720" cy="45720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822960" y="42519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The Policy Blindspot: Current allocation systematically under-serves urban populations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PART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Pakistan's Data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Infrastructure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40480" y="3383280"/>
            <a:ext cx="14630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Big Data &amp; AI in Pakistan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566160" cy="1463040"/>
          </a:xfrm>
          <a:prstGeom prst="round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7"/>
                </a:solidFill>
              </a:rPr>
              <a:t>Big Data: The 5 V's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1. Volume: Scale (TB to PB)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75564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2. Velocity: Speed of generation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56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3. Variety: Different formats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579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4. Veracity: Quality &amp; trust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35915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5. Value: Actionable insights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749040" cy="1463040"/>
          </a:xfrm>
          <a:prstGeom prst="round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937760" y="1234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7"/>
                </a:solidFill>
              </a:rPr>
              <a:t>Pakistan's Data Infrastructure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Pakistan Bureau of Statistics (PBS)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7556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Open Data Portal (data.gov.pk)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95681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NADRA National Database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15798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Provincial health &amp; education systems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35915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PIFRA financial management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7432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</a:rPr>
              <a:t>AI Applications in Government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017520"/>
            <a:ext cx="7863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22960" y="31546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Fraud detection in tax &amp; benefits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1546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Predictive service demand modeling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3375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Document processing automation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33375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Citizen service chatbots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640080" y="3840480"/>
            <a:ext cx="45720" cy="64008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822960" y="39776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Governance Challenge: These systems exist—but data remains siloed. Your role: create institutional mechanisms for cross-departmental analytics while protecting officer discretion.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ERP Systems &amp; Data Governance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566160" cy="182880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</a:rPr>
              <a:t>Federal Government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PIFRA: Integrated financial reporting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HRMIS: Employee records &amp; payroll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PPRA Portal: Procurement regulation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Budget System: Planning &amp; allocation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Benefits of Integration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3200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✓ Single source of truth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953512"/>
            <a:ext cx="3200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✓ Reduced duplication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118104"/>
            <a:ext cx="3200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✓ Real-time reporting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282696"/>
            <a:ext cx="3200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✓ Better audit trails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749040" cy="2468880"/>
          </a:xfrm>
          <a:prstGeom prst="round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937760" y="1234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7"/>
                </a:solidFill>
              </a:rPr>
              <a:t>Data Governance Principles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1. Quality: Accurate, complete, timely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77393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2. Accessibility: Right people, right 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99339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3. Accountability: Clear ownership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21284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4. Security: Protection with appropriate access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5603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085"/>
                </a:solidFill>
              </a:rPr>
              <a:t>Your Accountability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78892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You define: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99923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Which data justifies which decisions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18211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Who has access to what information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36499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How to defend choices under audit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822960" y="38862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Systems enable decisions; officers own them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PART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Practical Exercise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40480" y="3383280"/>
            <a:ext cx="14630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Group Exercise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8686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4864" cy="8686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Part 1: Case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Form groups of 4-5 officers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Select one of the four cases presented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19656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Identify: Data failure or governance failure?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975104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Which analytical errors are present?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7863840" cy="8686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54864" cy="86868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822960" y="224028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Part 2: Decision Framework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Your decision as the accountable officer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624328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How to defend under audit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779776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Institutional safeguards needed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935224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Data governance changes you'd recommend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7863840" cy="86868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54864" cy="86868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22960" y="32004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Part 3: Presentations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429000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Present to audit panel (scrutiny role)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584448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Present to political leadership (accountability)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739896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Present to media (transparency role)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3895344"/>
            <a:ext cx="7498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Evaluation: clarity of authority, defensibility of judgment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640080" y="4023360"/>
            <a:ext cx="45720" cy="5486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822960" y="4160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</a:rPr>
              <a:t>Remember: This simulates real institutional accountability you'll face at BPS-18/19 level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Common Patterns Across All Cases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566160" cy="1737360"/>
          </a:xfrm>
          <a:prstGeom prst="round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</a:rPr>
              <a:t>Data Failures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Aggregate metrics hiding critical variation (Karachi Malir health crisis)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8105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Incomplete or outdated information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665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Indicators measure wrong things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3225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Systems not capturing volatility (47 tipping-point districts)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085"/>
                </a:solidFill>
              </a:rPr>
              <a:t>Solutions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32004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Domain-specific metrics, not just aggregates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32004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Measure variance, not just means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32004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Match metric to decision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32004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Regular validation against ground reality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749040" cy="1737360"/>
          </a:xfrm>
          <a:prstGeom prst="round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937760" y="1234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</a:rPr>
              <a:t>Governance Failures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Wrong analytical boundaries (provincial silos hide natural zones)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81051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Officers fear challenging official rankings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06654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Political pressure overrides evidence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32257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No mandate for cross-cutting action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6517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085"/>
                </a:solidFill>
              </a:rPr>
              <a:t>Solutions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880360"/>
            <a:ext cx="3383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Cross-provincial coordination mechanisms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3017520"/>
            <a:ext cx="3383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Protect officers who surface hidden problems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3154680"/>
            <a:ext cx="3383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Institutional safeguards for domain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338328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✓ Pilot and validate reforms before scaling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640080" y="3474720"/>
            <a:ext cx="45720" cy="7315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822960" y="3611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Key Insight from Vulnerability Case: The Karachi Malir health crisis (2.4M people, 82nd percentile health) went unnoticed for YEARS because no one questioned aggregate metrics (41st overall). Your job: Ask the right questions BEFORE crises become visible.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Resources for Further Learning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0" cy="1188720"/>
          </a:xfrm>
          <a:prstGeom prst="round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7"/>
                </a:solidFill>
              </a:rPr>
              <a:t>Books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Thinking Clearly with Data (Bueno de Mesquita &amp; Fowler)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The Data Detective (Tim Harford)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Weapons of Math Destruction (Cathy O'Neil)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1188720"/>
          </a:xfrm>
          <a:prstGeom prst="round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7"/>
                </a:solidFill>
              </a:rPr>
              <a:t>Pakistan Context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Pakistan Bureau of Statistics reports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Planning Commission data portal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Provincial open data initiatives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2402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Academic research on Pakistan's data systems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7863840" cy="100584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822960" y="26060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</a:rPr>
              <a:t>Skills Development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926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Data literacy courses (PBS, NIPA)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926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GIS and mapping tools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Statistical thinking workshops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1272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Open data advocacy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822960" y="37947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For more information: https://docs.claude.com/en/docs/build-with-claude/prompt-engineering/overview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3657600" y="2468880"/>
            <a:ext cx="18288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From Technical Understanding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to Institutional Leadership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3566160"/>
            <a:ext cx="4572000" cy="914400"/>
          </a:xfrm>
          <a:prstGeom prst="round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468880" y="370332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Contact Information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3977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Facilitator: Zahid Asghar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📧 zasghar@qau.edu.pk | 📱 0300-9121940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2153</Words>
  <Application>Microsoft Office PowerPoint</Application>
  <PresentationFormat>On-screen Show (16:9)</PresentationFormat>
  <Paragraphs>417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for Strategic Decision-Making - MCMC-45</dc:title>
  <dc:subject>PptxGenJS Presentation</dc:subject>
  <dc:creator>Zahid Asghar - NIPA Peshawar</dc:creator>
  <cp:lastModifiedBy>Prof. Dr. Zahid Asghar</cp:lastModifiedBy>
  <cp:revision>3</cp:revision>
  <dcterms:created xsi:type="dcterms:W3CDTF">2026-01-12T03:50:47Z</dcterms:created>
  <dcterms:modified xsi:type="dcterms:W3CDTF">2026-01-12T15:06:36Z</dcterms:modified>
</cp:coreProperties>
</file>