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38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Analytics for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Strategic Decision-Making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45th Mid-Career Management Course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National Institute of Public Administration, Peshawar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January 13, 2026 | Zahid Asghar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Session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7"/>
                </a:solidFill>
              </a:rPr>
              <a:t>Learning Objectives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Distinguish data from governance failures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1005840" y="20116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Make defensible evidence-based decisions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Avoid common analytical errors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137160" cy="13716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1005840" y="274320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C3E50"/>
                </a:solidFill>
              </a:rPr>
              <a:t>Lead data governance institutionally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45720" cy="731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3611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Key Focus: I will cover technical training—it's about leadership, accountability, and strategic judgment using data.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The Mindset Shift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</a:rPr>
              <a:t>From Technical Executor to Strategic Leader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182880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F8C8D"/>
                </a:solidFill>
              </a:rPr>
              <a:t>Earlier Focus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Implementing systems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Following procedures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Managing processes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</a:rPr>
              <a:t>• Technical execution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749040" cy="1828800"/>
          </a:xfrm>
          <a:prstGeom prst="round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Your Responsibility Now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Owning institutional decisions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Defending under audit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Shaping what gets measured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Strategic judgment under uncertainty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64008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45720" cy="64008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"Your job is not to trust data blindly or reject it instinctively—but to own decisions that data informs."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Two Types of Failures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DC3C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7"/>
                </a:solidFill>
              </a:rPr>
              <a:t>Data Failure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Incomplete, outdated, or contradictory information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Beneficiary databases not updated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2199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Indicators measuring compliance not outcomes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7802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Siloed data across departments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3405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</a:rPr>
              <a:t>• Systems exist but aren't integrated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201168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93776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4C3C"/>
                </a:solidFill>
              </a:rPr>
              <a:t>Governance Failure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Institutional clarity gaps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Unclear who decides what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Officers fear analytics = audit exposure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4231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No mandate for cross-departmental action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Political pressure overrides evidence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880360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• Weak accountability mechanisms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4572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822960" y="352044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33"/>
                </a:solidFill>
              </a:rPr>
              <a:t>Critical Insight: Most "data problems" are actually governance problems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Common Errors in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Data Analysis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8 Critical Errors: Quick Reference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1. Selection Bias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seeing the full picture or just survivors?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9728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892040" y="1188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2. Confounding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46304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What else could explain this?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40080" y="182880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2296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3. Reverse Causality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Which way does the arrow point?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709160" y="182880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9204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4. Measurement Manipulation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219456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measuring what matters?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256032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640080" y="256032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82296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5. Ecological Fallacy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Does the average hide variation?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56032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709160" y="256032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892040" y="2651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6. Survivorship Bias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92040" y="29260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Who am I NOT seeing?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329184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640080" y="329184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7. P-Hacking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 I finding or manufacturing patterns?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91840"/>
            <a:ext cx="3840480" cy="64008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Shape 30"/>
          <p:cNvSpPr/>
          <p:nvPr/>
        </p:nvSpPr>
        <p:spPr>
          <a:xfrm>
            <a:off x="4709160" y="3291840"/>
            <a:ext cx="45720" cy="64008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4892040" y="3383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7"/>
                </a:solidFill>
              </a:rPr>
              <a:t>8. Base Rate Neglect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3657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How common is this really?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640080" y="4114800"/>
            <a:ext cx="45720" cy="5486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822960" y="425196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Your role: Ask these questions BEFORE making decisions, not after audit flags problems.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1: Selection Bias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seeing the full picture?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School dropout survey only includes enrolled students (95% satisfied). Dropouts excluded.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D8431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2: Confounding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What else explains this?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Clinic A (urban) has better outcomes than Clinic B (rural). Socioeconomic status confounds.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F57C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3: Reverse Causality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Which way does arrow point?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More police deployed where crime is high. Conclusion: Police cause crime. Reality: Reverse.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4: Measurement Error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measuring what matters?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Dashboard shows 92% promotion rate but learning outcomes poor. Measuring completion, not quality.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5: Ecological Fallacy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Does average hide variation?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District X has high education spending, low literacy. Aggregate hides urban/rural distribution.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0277B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6: Survivorship Bias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Who am I NOT seeing?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Training program survey shows 90% positive. 40% who dropped out aren't surveyed.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5E35B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7: P-Hacking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Am I manufacturing patterns?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Policy shows no impact. Test 20 outcomes until one is significant (p&lt;0.05). Could be chance.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roundRect">
            <a:avLst/>
          </a:prstGeom>
          <a:solidFill>
            <a:srgbClr val="C2185B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8: Base Rate Neglect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7315200" cy="731520"/>
          </a:xfrm>
          <a:prstGeom prst="round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97280" y="1371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D2D2D"/>
                </a:solidFill>
              </a:rPr>
              <a:t>How common is this really?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</a:rPr>
              <a:t>Pakistan Example: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D2D2D"/>
                </a:solidFill>
              </a:rPr>
              <a:t>Fraud detection 95% accurate. But fraud is 1% of transactions. Result: 98% false positives.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355080"/>
            <a:ext cx="9144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Real Pakistan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Case Studies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840480" y="3383280"/>
            <a:ext cx="1463040" cy="27432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The Karachi Malir Crisis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8C8D"/>
                </a:solidFill>
              </a:rPr>
              <a:t>What Officials See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743200" cy="822960"/>
          </a:xfrm>
          <a:prstGeom prst="round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</a:rPr>
              <a:t>Overall Vulnerability: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A085"/>
                </a:solidFill>
              </a:rPr>
              <a:t>41st percentile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743200" cy="5486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</a:rPr>
              <a:t>Gets ZERO targeted health funding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1097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What Data Reveals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1463040"/>
          <a:ext cx="4663440" cy="2133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Percentile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Overall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 Moderate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Housing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Excellent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Livelihoods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Excellent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Demographics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✓✓ Best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Transport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71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Poor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Education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69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 Poor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Health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74C3C"/>
                          </a:solidFill>
                        </a:rPr>
                        <a:t>82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</a:rPr>
                        <a:t>✗✗ CATASTROPHIC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840480" y="35661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</a:rPr>
              <a:t>3.7M people • Health worse than 82% of districts • Completely invisible in aggregate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45720" cy="54864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Analytical Error: Ecological Fallacy - District-level average hides domain-specific disaster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Decision Quality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</a:rPr>
              <a:t>When facing a data-driven decision, ask: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1. CLARITY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Do I have authority to make this decision?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2. EVIDENCE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data do I have, and what are its limitations?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1938528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1938528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77724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3. ERRORS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258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Which analytical errors might be present?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938528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709160" y="1938528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846320" y="202996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4. ALTERNATIVES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2585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other explanations exist?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2596896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640080" y="2596896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7724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5. UNCERTAINTY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9169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don't I know, and does it matter?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2596896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4709160" y="2596896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846320" y="26883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6. SAFEGUARDS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29169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How do I document this for future audit?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3255264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640080" y="3255264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7. ACCOUNTABILITY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Can I defend this under scrutiny?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255264"/>
            <a:ext cx="3840480" cy="59436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Shape 31"/>
          <p:cNvSpPr/>
          <p:nvPr/>
        </p:nvSpPr>
        <p:spPr>
          <a:xfrm>
            <a:off x="4709160" y="3255264"/>
            <a:ext cx="36576" cy="59436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4846320" y="334670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085"/>
                </a:solidFill>
              </a:rPr>
              <a:t>8. LEARNING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357530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What would tell me I was wrong?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1B3A5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framework transforms data into defensible, accountable decisions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Your Four Core Responsibilities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1. Establish Institutional Clarity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Define who decides what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0" y="150876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Document decision-making authority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Create clear escalation paths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0" y="1645920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Separate technical analysis from policy judgment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984248"/>
            <a:ext cx="7863840" cy="731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640080" y="1984248"/>
            <a:ext cx="54864" cy="73152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22960" y="2075688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2. Create Officer Safeguards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Reduce exposure while improving transparency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0" y="230428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Document decision rationale contemporaneously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44144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Build peer review mechanisms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2441448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Establish audit-defensible processes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2779776"/>
            <a:ext cx="7863840" cy="73152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2779776"/>
            <a:ext cx="54864" cy="731520"/>
          </a:xfrm>
          <a:prstGeom prst="rect">
            <a:avLst/>
          </a:prstGeom>
          <a:solidFill>
            <a:srgbClr val="FF980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3. Reshape Incentives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309981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Make analytics surface problems, not conceal them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309981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Reward officers who identify issues early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323697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Protect those who challenge green dashboards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0" y="3236976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Measure outcomes, not just compliance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3575304"/>
            <a:ext cx="7863840" cy="73152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3"/>
          <p:cNvSpPr/>
          <p:nvPr/>
        </p:nvSpPr>
        <p:spPr>
          <a:xfrm>
            <a:off x="640080" y="3575304"/>
            <a:ext cx="54864" cy="73152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822960" y="366674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4. Own Decisions Informed by Data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89534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Accept uncertainty as normal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389534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Use data to reduce uncertainty, not eliminate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403250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Defend judgment under political/audit scrutiny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032504"/>
            <a:ext cx="34747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</a:rPr>
              <a:t>• Balance evidence with institutional wisdom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Key Principles to Remember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085"/>
                </a:solidFill>
              </a:rPr>
              <a:t>What Data 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109728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One input to judgment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Uncertainty reducer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Conversation starter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✓ Accountability enhancer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</a:rPr>
              <a:t>What Data Is NOT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566160" cy="1097280"/>
          </a:xfrm>
          <a:prstGeom prst="round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The decision-maker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Perfect or complete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A shield from responsibility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9319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</a:rPr>
              <a:t>✗ A substitute for wisdom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57"/>
                </a:solidFill>
              </a:rPr>
              <a:t>Your Role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554480"/>
            <a:ext cx="3749040" cy="2377440"/>
          </a:xfrm>
          <a:prstGeom prst="roundRect">
            <a:avLst/>
          </a:prstGeom>
          <a:solidFill>
            <a:srgbClr val="ECF0F1"/>
          </a:solidFill>
          <a:ln w="25400">
            <a:solidFill>
              <a:srgbClr val="1B3A5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Data is not authority—you are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Analytics is not defense—judgment 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Systems don't decide—officers do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</a:rPr>
              <a:t>• Uncertainty is not weakness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22960" y="416052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"Your job is not to trust data blindly or reject it instinctively—but to own decisions that data informs."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7"/>
                </a:solidFill>
              </a:rPr>
              <a:t>Your Next Actions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864" cy="914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Immediate (This Week)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Identify one analytics opportunity in your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Ask: 'What does the average hide?'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Connect with your data/IT officers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94560"/>
            <a:ext cx="7863840" cy="9144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640080" y="2194560"/>
            <a:ext cx="54864" cy="914400"/>
          </a:xfrm>
          <a:prstGeom prst="rect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228600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Short-term (This Month)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Review one dashboard—ask the 8 error questions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Document one decision rationale for future audit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Identify cross-departmental patterns in your work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914400"/>
          </a:xfrm>
          <a:prstGeom prst="rect">
            <a:avLst/>
          </a:prstGeom>
          <a:solidFill>
            <a:srgbClr val="F3E5F5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40080" y="3200400"/>
            <a:ext cx="54864" cy="914400"/>
          </a:xfrm>
          <a:prstGeom prst="rect">
            <a:avLst/>
          </a:prstGeom>
          <a:solidFill>
            <a:srgbClr val="9C27B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29184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7"/>
                </a:solidFill>
              </a:rPr>
              <a:t>Strategic (This Quarter)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356616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Propose one governance reform based on hidden patterns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74904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Mentor junior officers on analytical errors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931920"/>
            <a:ext cx="7498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</a:rPr>
              <a:t>✅ Build institutional safeguards for challenging official metrics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8D"/>
                </a:solidFill>
              </a:rPr>
              <a:t>NIPA Peshawar | MCMC-45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3657600" y="2468880"/>
            <a:ext cx="18288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From Technical Understanding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to Institutional Leadership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0" y="3566160"/>
            <a:ext cx="4572000" cy="914400"/>
          </a:xfrm>
          <a:prstGeom prst="round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2468880" y="370332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Contact Information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68880" y="3977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Facilitator: Zahid Asghar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📧 zasghar@qau.edu.pk | 📱 0300-9121940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1174</Words>
  <Application>Microsoft Office PowerPoint</Application>
  <PresentationFormat>On-screen Show (16:9)</PresentationFormat>
  <Paragraphs>244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for Strategic Decision-Making - MCMC-45</dc:title>
  <dc:subject>PptxGenJS Presentation</dc:subject>
  <dc:creator>Zahid Asghar - NIPA Peshawar</dc:creator>
  <cp:lastModifiedBy>Prof. Dr. Zahid Asghar</cp:lastModifiedBy>
  <cp:revision>2</cp:revision>
  <dcterms:created xsi:type="dcterms:W3CDTF">2026-01-12T03:28:42Z</dcterms:created>
  <dcterms:modified xsi:type="dcterms:W3CDTF">2026-01-12T09:17:06Z</dcterms:modified>
</cp:coreProperties>
</file>